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Alexandria Medium" panose="020B0604020202020204" charset="-78"/>
      <p:regular r:id="rId17"/>
    </p:embeddedFont>
    <p:embeddedFont>
      <p:font typeface="Manrop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DE3"/>
    <a:srgbClr val="01577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33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-2-6.svg"/><Relationship Id="rId12" Type="http://schemas.openxmlformats.org/officeDocument/2006/relationships/image" Target="../media/image-2-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-2-3.sv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-2-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Vendor Performance &amp; Revenue Concentration Analysis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BY: Harsh Anvekar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86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224683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131939"/>
            <a:ext cx="3331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Concentration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vendors drive majority of sales, creating procurement dependency with ~65.7% concentration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2224683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62982" y="3131939"/>
            <a:ext cx="3414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Bulk Purchasing Impact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Significant unit cost reductions through volume-based procurement strategies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224" y="504384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8224" y="5951101"/>
            <a:ext cx="38003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Consolidation Opportunity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Low-performing vendors add operational complexity with minimal revenue contribution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13125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982" y="5043845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62982" y="5951101"/>
            <a:ext cx="2961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Pricing Optimization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control drives margins more than pricing in competitive market environment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Business Problem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vendor mix creates operational inefficiencies that directly impact profitability, inventory turnover rates, and pricing strategy effectiveness.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42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Critical Questions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23673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vendors drive revenue and profit margins?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do operational inefficiencies exist?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bulk purchasing improve gross margins?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should vendor relationships be optimized?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4251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KPI Snapshot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$451.6M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2602230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Sales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69025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generated across all vendor relationships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48193" y="1896308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$321.9M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281398" y="289071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Purchases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448193" y="3361611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Procurement spend with vendor partners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9025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$129.7M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2602230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Gross Profit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9025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 available for optimization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48193" y="4243149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9M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281398" y="523755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Units Sold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448193" y="5708452"/>
            <a:ext cx="641318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Volume flowing through distribution network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9025" y="6294001"/>
            <a:ext cx="13092351" cy="1261229"/>
          </a:xfrm>
          <a:prstGeom prst="roundRect">
            <a:avLst>
              <a:gd name="adj" fmla="val 26134"/>
            </a:avLst>
          </a:prstGeom>
          <a:solidFill>
            <a:srgbClr val="B3E7FE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6627733"/>
            <a:ext cx="274558" cy="21967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82923" y="6561653"/>
            <a:ext cx="1215878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top-line performance indicates healthy demand, but profit optimization depends on strategic vendor management and procurement efficiency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4944" y="1256062"/>
            <a:ext cx="3331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Concentration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2994944" y="2049439"/>
            <a:ext cx="181594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Pareto Principle in Action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944" y="2344667"/>
            <a:ext cx="6732285" cy="4028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9713" y="2261782"/>
            <a:ext cx="5774217" cy="117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Top 10 vendors contribute </a:t>
            </a:r>
            <a:r>
              <a:rPr lang="en-US" sz="2000" dirty="0" smtClean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approximately </a:t>
            </a:r>
            <a:r>
              <a:rPr lang="en-US" sz="2000" b="1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65.7%</a:t>
            </a: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 of total </a:t>
            </a:r>
            <a:r>
              <a:rPr lang="en-US" sz="2000" dirty="0" smtClean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purchases</a:t>
            </a: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, while over 100 </a:t>
            </a:r>
            <a:r>
              <a:rPr lang="en-US" sz="2000" dirty="0" smtClean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remaining </a:t>
            </a: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vendors </a:t>
            </a:r>
            <a:r>
              <a:rPr lang="en-US" sz="2000" dirty="0" smtClean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contribute </a:t>
            </a: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only ~34%.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279713" y="4123770"/>
            <a:ext cx="5774217" cy="122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Business is highly dependent on a small set of strategic partners, creating both opportunity and risk.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102627" y="4414294"/>
            <a:ext cx="109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Top 10 Vendors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8027" y="2937265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Remaining 100 vendors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5-Point Star 19"/>
          <p:cNvSpPr/>
          <p:nvPr/>
        </p:nvSpPr>
        <p:spPr>
          <a:xfrm>
            <a:off x="7782338" y="2344667"/>
            <a:ext cx="337929" cy="309081"/>
          </a:xfrm>
          <a:prstGeom prst="star5">
            <a:avLst>
              <a:gd name="adj" fmla="val 10372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5-Point Star 20"/>
          <p:cNvSpPr/>
          <p:nvPr/>
        </p:nvSpPr>
        <p:spPr>
          <a:xfrm>
            <a:off x="7782338" y="4123770"/>
            <a:ext cx="337929" cy="309081"/>
          </a:xfrm>
          <a:prstGeom prst="star5">
            <a:avLst>
              <a:gd name="adj" fmla="val 10372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67239"/>
            <a:ext cx="70730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Vendor Performance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80190" y="1816179"/>
            <a:ext cx="7556421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10670" y="1846659"/>
            <a:ext cx="907256" cy="1669852"/>
          </a:xfrm>
          <a:prstGeom prst="roundRect">
            <a:avLst>
              <a:gd name="adj" fmla="val 33471"/>
            </a:avLst>
          </a:prstGeom>
          <a:solidFill>
            <a:srgbClr val="E6F7FF"/>
          </a:solidFill>
          <a:ln/>
        </p:spPr>
      </p:sp>
      <p:sp>
        <p:nvSpPr>
          <p:cNvPr id="7" name="Text 4"/>
          <p:cNvSpPr/>
          <p:nvPr/>
        </p:nvSpPr>
        <p:spPr>
          <a:xfrm>
            <a:off x="6590348" y="246888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444740" y="2073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Leading Vendor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44740" y="2563892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Contributes over $70M in sales alone, representing ~15% of total revenue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3773805"/>
            <a:ext cx="7556421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10670" y="3804285"/>
            <a:ext cx="907256" cy="1669852"/>
          </a:xfrm>
          <a:prstGeom prst="roundRect">
            <a:avLst>
              <a:gd name="adj" fmla="val 33471"/>
            </a:avLst>
          </a:prstGeom>
          <a:solidFill>
            <a:srgbClr val="E6F7FF"/>
          </a:solidFill>
          <a:ln/>
        </p:spPr>
      </p:sp>
      <p:sp>
        <p:nvSpPr>
          <p:cNvPr id="12" name="Text 9"/>
          <p:cNvSpPr/>
          <p:nvPr/>
        </p:nvSpPr>
        <p:spPr>
          <a:xfrm>
            <a:off x="6590348" y="44265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444740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Sharp Drop-off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44740" y="4521517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Significant revenue decline after top 2-3 vendors, demonstrating power-law distribution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0190" y="5731431"/>
            <a:ext cx="7556421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10670" y="5761911"/>
            <a:ext cx="907256" cy="1669852"/>
          </a:xfrm>
          <a:prstGeom prst="roundRect">
            <a:avLst>
              <a:gd name="adj" fmla="val 33471"/>
            </a:avLst>
          </a:prstGeom>
          <a:solidFill>
            <a:srgbClr val="E6F7FF"/>
          </a:solidFill>
          <a:ln/>
        </p:spPr>
      </p:sp>
      <p:sp>
        <p:nvSpPr>
          <p:cNvPr id="17" name="Text 14"/>
          <p:cNvSpPr/>
          <p:nvPr/>
        </p:nvSpPr>
        <p:spPr>
          <a:xfrm>
            <a:off x="6590348" y="638413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444740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Revenue Backbone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44740" y="6479143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vendors form the strategic foundation of procurement operations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82087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Bottom Vendor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1713"/>
            <a:ext cx="28365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Performance Profile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12858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Extremely low revenue contribution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Long tail distribution pattern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operational overhead relative to value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Minimal procurement volume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706427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Vendor rationalization opportunity exists</a:t>
            </a: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low-performing partners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9579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Pricing &amp; Profitability Insights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017306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Weak Correlation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20611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Negligible relationship between price and sales volume or profit contribution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017306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Negative Trend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017306" y="48759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prices correlate with lower margins in competitive market environment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017306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Market Reality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017306" y="65458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Pricing power limited by competition; margins driven more by cost control than price increases</a:t>
            </a:r>
            <a:endParaRPr lang="en-US" sz="1750" dirty="0"/>
          </a:p>
        </p:txBody>
      </p:sp>
      <p:sp>
        <p:nvSpPr>
          <p:cNvPr id="14" name="Right Arrow 13"/>
          <p:cNvSpPr/>
          <p:nvPr/>
        </p:nvSpPr>
        <p:spPr>
          <a:xfrm>
            <a:off x="5793172" y="2668018"/>
            <a:ext cx="974035" cy="401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5793172" y="4338089"/>
            <a:ext cx="974035" cy="401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5793172" y="6004819"/>
            <a:ext cx="974035" cy="4017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68321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Bulk Purchasing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245626" y="2992160"/>
            <a:ext cx="3224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Volume-Sales Correlation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245625" y="3277514"/>
            <a:ext cx="79104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positive correlation (~1.0) between order size and unit </a:t>
            </a:r>
            <a:endParaRPr lang="en-US" sz="1750" dirty="0" smtClean="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cost </a:t>
            </a: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efficiency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245626" y="4906669"/>
            <a:ext cx="2750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Implications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245626" y="5260999"/>
            <a:ext cx="791045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purchasing with top vendors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Negotiate volume-based discounts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Consolidate orders for better pricing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transaction frequency</a:t>
            </a:r>
            <a:endParaRPr lang="en-US" sz="1750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295940"/>
            <a:ext cx="6808304" cy="4939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81469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40593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14901"/>
            <a:ext cx="3071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Vendor Consolidation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low-performing vendors and focus procurement on top 10-20 strategic partners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40593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014901"/>
            <a:ext cx="31562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Strategic Partnerships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Strengthen relationships with high-volume vendors through long-term contracts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863215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Bulk Procurement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 order sizes with top vendors to achieve lower unit costs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Pricing Strategy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Avoid aggressive price increases; focus on cost-side optimization instead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Inventory Efficiency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Align procurement patterns with high-turnover vendors to optimize working capital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456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Alexandria Medium</vt:lpstr>
      <vt:lpstr>Arial</vt:lpstr>
      <vt:lpstr>Alexandria Light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Microsoft account</cp:lastModifiedBy>
  <cp:revision>4</cp:revision>
  <dcterms:created xsi:type="dcterms:W3CDTF">2026-04-12T12:09:14Z</dcterms:created>
  <dcterms:modified xsi:type="dcterms:W3CDTF">2026-04-12T12:25:12Z</dcterms:modified>
</cp:coreProperties>
</file>